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9" r:id="rId3"/>
    <p:sldId id="295" r:id="rId4"/>
    <p:sldId id="281" r:id="rId5"/>
    <p:sldId id="271" r:id="rId6"/>
    <p:sldId id="274" r:id="rId7"/>
    <p:sldId id="275" r:id="rId8"/>
    <p:sldId id="276" r:id="rId9"/>
    <p:sldId id="282" r:id="rId10"/>
    <p:sldId id="283" r:id="rId11"/>
    <p:sldId id="284" r:id="rId12"/>
    <p:sldId id="285" r:id="rId13"/>
    <p:sldId id="290" r:id="rId14"/>
    <p:sldId id="291" r:id="rId15"/>
    <p:sldId id="292" r:id="rId16"/>
    <p:sldId id="293" r:id="rId17"/>
    <p:sldId id="277" r:id="rId18"/>
    <p:sldId id="278" r:id="rId19"/>
    <p:sldId id="279" r:id="rId20"/>
    <p:sldId id="280" r:id="rId21"/>
    <p:sldId id="258" r:id="rId22"/>
    <p:sldId id="260" r:id="rId23"/>
    <p:sldId id="261" r:id="rId24"/>
    <p:sldId id="262" r:id="rId25"/>
    <p:sldId id="286" r:id="rId27"/>
    <p:sldId id="287" r:id="rId28"/>
    <p:sldId id="288" r:id="rId29"/>
    <p:sldId id="289" r:id="rId30"/>
    <p:sldId id="263" r:id="rId31"/>
    <p:sldId id="264" r:id="rId32"/>
    <p:sldId id="265" r:id="rId33"/>
    <p:sldId id="266" r:id="rId34"/>
    <p:sldId id="296" r:id="rId35"/>
    <p:sldId id="29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993F0-340A-40B1-9565-EE95C7A1A93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9430C-D221-44B4-A10F-37B91207E02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9430C-D221-44B4-A10F-37B91207E02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7C6E2-CC72-427C-8E99-7AAECFBBFD8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C9FC4-8DD4-4942-B3AE-4BD8436D2CFA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1884" y="461445"/>
            <a:ext cx="107368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Bank Loan Analytics </a:t>
            </a:r>
            <a:endParaRPr lang="en-US" sz="5400" dirty="0">
              <a:solidFill>
                <a:schemeClr val="tx1">
                  <a:lumMod val="95000"/>
                </a:schemeClr>
              </a:solidFill>
              <a:latin typeface="Lucida Calligraphy" panose="03010101010101010101" pitchFamily="66" charset="0"/>
              <a:cs typeface="Arial" panose="020B0604020202020204" pitchFamily="34" charset="0"/>
            </a:endParaRPr>
          </a:p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                                and</a:t>
            </a:r>
            <a:endParaRPr lang="en-US" sz="5400" dirty="0">
              <a:solidFill>
                <a:schemeClr val="tx1">
                  <a:lumMod val="95000"/>
                </a:schemeClr>
              </a:solidFill>
              <a:latin typeface="Lucida Calligraphy" panose="03010101010101010101" pitchFamily="66" charset="0"/>
              <a:cs typeface="Arial" panose="020B0604020202020204" pitchFamily="34" charset="0"/>
            </a:endParaRPr>
          </a:p>
          <a:p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Debit &amp; Credit Transactions</a:t>
            </a:r>
            <a:endParaRPr lang="en-IN" sz="5400" dirty="0">
              <a:solidFill>
                <a:schemeClr val="tx1">
                  <a:lumMod val="95000"/>
                </a:schemeClr>
              </a:solidFill>
              <a:latin typeface="Lucida Calligraphy" panose="03010101010101010101" pitchFamily="66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38"/>
          <a:stretch>
            <a:fillRect/>
          </a:stretch>
        </p:blipFill>
        <p:spPr>
          <a:xfrm>
            <a:off x="9493046" y="3107266"/>
            <a:ext cx="2330245" cy="1612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63096" y="3707804"/>
            <a:ext cx="7433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Lucida Calligraphy" panose="03010101010101010101" pitchFamily="66" charset="0"/>
              </a:rPr>
              <a:t>18</a:t>
            </a:r>
            <a:r>
              <a:rPr lang="en-US" sz="4000" b="1" baseline="30000" dirty="0">
                <a:latin typeface="Lucida Calligraphy" panose="03010101010101010101" pitchFamily="66" charset="0"/>
              </a:rPr>
              <a:t>th</a:t>
            </a:r>
            <a:r>
              <a:rPr lang="en-US" sz="4000" b="1" dirty="0">
                <a:latin typeface="Lucida Calligraphy" panose="03010101010101010101" pitchFamily="66" charset="0"/>
              </a:rPr>
              <a:t> February 2026</a:t>
            </a:r>
            <a:endParaRPr lang="en-IN" sz="4000" b="1" dirty="0"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18735" y="749823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Tools Used for this project: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730476" y="1931416"/>
            <a:ext cx="3470789" cy="2380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Project Management Tools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cxnSp>
        <p:nvCxnSpPr>
          <p:cNvPr id="11" name="Connector: Elbow 10"/>
          <p:cNvCxnSpPr>
            <a:endCxn id="22" idx="1"/>
          </p:cNvCxnSpPr>
          <p:nvPr/>
        </p:nvCxnSpPr>
        <p:spPr>
          <a:xfrm flipV="1">
            <a:off x="4960374" y="2336524"/>
            <a:ext cx="3271277" cy="201962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01265" y="2968111"/>
            <a:ext cx="311682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988437" y="3647767"/>
            <a:ext cx="33296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/>
          <p:cNvCxnSpPr>
            <a:endCxn id="25" idx="1"/>
          </p:cNvCxnSpPr>
          <p:nvPr/>
        </p:nvCxnSpPr>
        <p:spPr>
          <a:xfrm>
            <a:off x="4847303" y="3804969"/>
            <a:ext cx="3470788" cy="762095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/>
          <p:cNvSpPr/>
          <p:nvPr/>
        </p:nvSpPr>
        <p:spPr>
          <a:xfrm>
            <a:off x="8231651" y="2004084"/>
            <a:ext cx="2013563" cy="6648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Excel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8318091" y="2734571"/>
            <a:ext cx="1927123" cy="6548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Tableau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8318091" y="3428932"/>
            <a:ext cx="1927123" cy="73737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Mysql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8318091" y="4198374"/>
            <a:ext cx="1927123" cy="737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Power BI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1997176"/>
            <a:ext cx="684374" cy="55347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2691373"/>
            <a:ext cx="684374" cy="55347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3428931"/>
            <a:ext cx="815269" cy="64800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6" y="4248880"/>
            <a:ext cx="1025480" cy="6480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Sequential Access Storage 4"/>
          <p:cNvSpPr/>
          <p:nvPr/>
        </p:nvSpPr>
        <p:spPr>
          <a:xfrm>
            <a:off x="4978243" y="465498"/>
            <a:ext cx="2628804" cy="894736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68709" y="2148348"/>
            <a:ext cx="3642851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Introduction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98258" y="2048488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Data Overview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576186" y="2166178"/>
            <a:ext cx="3360175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Objectives/</a:t>
            </a:r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Kpi’s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11394" y="3464175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Analysis and Insights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94122" y="3413333"/>
            <a:ext cx="3893574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Process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35178" y="3397666"/>
            <a:ext cx="3301183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Recommendations and Insights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0439" y="4780002"/>
            <a:ext cx="3544529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734233" y="4778178"/>
            <a:ext cx="3900945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Report/Dashboard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898193" y="4778178"/>
            <a:ext cx="3175820" cy="6980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Challenges and Learnings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908" y="1511367"/>
            <a:ext cx="103533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Banking &amp; Financial Services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Increasing loan defaults, rising delinquency rates, and lack of clear visibility into loan performance across regions and customer segments.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loan distribution, funding, collections, and customer risk patterns to improve portfolio performance, reduce defaults, and support data-driven decision making.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077064" y="517391"/>
            <a:ext cx="803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ANALYTICS-INTRODUCTION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9293" y="1166842"/>
            <a:ext cx="104221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bank_loan.csv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65,535 loan records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Columns: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Account_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Loan_Status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Loan_Amount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Int_Rate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Is_Delinquent_Loan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Disbursement_Date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(year), Age,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Branch_Name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Religion,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Grade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Aggregations(KPI’S):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Loans: 65K, Total Funded Amount:733M, Total Interest:155M, Total Collection: 808M, Default Loan:1K, Verified Loan:13K,  Non-Verified Loan:17K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Delinquent Clients:7K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87561" y="324464"/>
            <a:ext cx="7216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ANALYTICS-DATA OVERVIEW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125" y="261684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Bank loan dashboard-Objectives/</a:t>
            </a:r>
            <a:r>
              <a:rPr lang="en-US" sz="3200" b="1" dirty="0" err="1">
                <a:latin typeface="+mn-lt"/>
              </a:rPr>
              <a:t>kpi’s</a:t>
            </a:r>
            <a:endParaRPr lang="en-IN" sz="32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2665" y="1356852"/>
            <a:ext cx="78633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Age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Year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Grade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loan Status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Religion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States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Loan amount by Branch(interest, fees)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" r="1408"/>
          <a:stretch>
            <a:fillRect/>
          </a:stretch>
        </p:blipFill>
        <p:spPr>
          <a:xfrm>
            <a:off x="884902" y="2034658"/>
            <a:ext cx="5437240" cy="2163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1988" y="1445174"/>
            <a:ext cx="468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Yearly Loan Amount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3110" y="334782"/>
            <a:ext cx="10491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DASHBOARD-ANALYSIS AND INSIGHTS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7110" y="1424745"/>
            <a:ext cx="492596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2017–2018 marked the strongest growth phase in lending activity.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2018 was the peak year with maximum loan disbursement (₹289M).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Lending slowed in 2019, indicating possible tightening of credit policies or reduced demand.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sharp fall in 2020 suggests external disruption impact (economic slowdown, policy changes, or crisis period).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bank may need to reassess credit expansion strategy post-2020 to restore portfolio growth.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trend reflects rapid expansion followed by contraction in the later years.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626085" cy="73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4915" y="325189"/>
            <a:ext cx="603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Age wise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1640" y="1051119"/>
            <a:ext cx="575187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distribution is highly concentrated in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26–35 age group (35%)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closely by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36–45 (32%)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that mid-career professionals are the primary borrowers.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46–55 group (18%)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moderately, indicating steady but reduced borrowing as individuals approach later career stages.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18–25 segment (12%)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comparatively lower loan share, likely due to lower income levels or early career stages.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56–63 group (2%)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holds the smallest share, reflecting limited borrowing near retirement age.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nearly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67% of total loans come from the 26–45 age segment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dependence on working-age customers.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4" y="1533831"/>
            <a:ext cx="4522839" cy="2939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10116" y="461184"/>
            <a:ext cx="623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Grade wise Amount % 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3986" y="1151453"/>
            <a:ext cx="577153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loan portfolio is heavily concentrated in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B (30%)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largest contributor to total loan disbursement. This indicates a strong focus on mid-quality borrowers, balancing risk and return.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C (20%)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A (20%)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follow closely, showing a significant allocation to both moderate and low-risk borrowers. The presence of high funding in Grade A reflects confidence in creditworthy customers.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D (15%)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E (10%)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account for a moderate share, suggesting controlled exposure to higher-risk segments.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F (4%)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G (1%)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 the smallest portions of the portfolio, indicating minimal lending to very high-risk categories.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952" y="1151453"/>
            <a:ext cx="4492244" cy="3002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31242" y="457055"/>
            <a:ext cx="6941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Loan status wise amount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"/>
          <a:stretch>
            <a:fillRect/>
          </a:stretch>
        </p:blipFill>
        <p:spPr>
          <a:xfrm>
            <a:off x="1043374" y="1750142"/>
            <a:ext cx="5160780" cy="26919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58" y="17508"/>
            <a:ext cx="1560438" cy="70115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543205" y="1191290"/>
            <a:ext cx="541433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Loans (₹412M) form the majority of the total portfolio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that a large portion of funds is still outstanding — this increases revenue potential but also overall credit risk exposure.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Paid Loans (₹191M) show strong repayment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good credit quality and effective recovery strategies.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Risk-related categories (NPA ₹6M and Write-Off ₹1M) are comparatively very 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that current loan defaults are under control and portfolio health is stable.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gap between Active and Fully Paid loans highlights dependency on future repayments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continuous monitoring of active accounts critical for maintaining portfolio stability.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08671" y="530010"/>
            <a:ext cx="5801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Religion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30528" y="1343385"/>
            <a:ext cx="61156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loan portfolio is largely concentrated within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Hindu segment (75%)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accounting for nearly three-fourths of the total loan amount. This indicates a dominant customer base from this group.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Sikh segment (14%)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Muslim segment (11%)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 moderate shares, showing meaningful participation but significantly lower compared to the majority segment.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Christian segment (1%)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represents a very small portion of the total loan amount.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distribution indicates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demographic concentration with potential scope for diversification</a:t>
            </a:r>
            <a:r>
              <a:rPr lang="en-US" dirty="0"/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87" y="1715658"/>
            <a:ext cx="3277057" cy="32103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57834" y="353030"/>
            <a:ext cx="6499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Amount by Branch Name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831346" cy="822885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679615" y="1044202"/>
            <a:ext cx="540071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nsights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Mathura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 the highest total loan amount, followed by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Fatehgarh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Sahib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Haridwar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indicating strong loan demand and branch performance in these locations.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branches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(Mathura,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Fatehgarh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Sahib, Haridwar, Sangrur, Hardoi) contribute a significantly higher share compared to other branches, showing concentration of lending in selected regions.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gradual decline pattern is visible from highest to lowest branches, suggesting consistent distribution but with moderate performance gaps between branches.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difference between the highest and lowest branches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₹15M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a noticeable regional performance gap and potential opportunity for targeted growth strategies in low-performing areas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51" y="1248696"/>
            <a:ext cx="5033930" cy="4724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02310" y="539842"/>
            <a:ext cx="6528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Analysis:% of amount by default loan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6619" y="1271286"/>
            <a:ext cx="36752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682012" y="1701028"/>
            <a:ext cx="608249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significant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99% of the total 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falls under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Non-Default (N)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category, indicating strong overall loan portfolio performance.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1% of the 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classified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(Y)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that the bank maintains a very low default exposure.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minimal default percentage suggests effective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and borrower screening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 proportion of non-default loans reflects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repayment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healthy cash flow management among customers.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though the default rate is low, continuous monitoring is essential to prevent future credit risk accumulation.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10" y="1531161"/>
            <a:ext cx="4451834" cy="3048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67665" y="579171"/>
            <a:ext cx="790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% of Amount by Product Code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407743" y="1302445"/>
            <a:ext cx="650744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dominates the portfolio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total loan amount, indicating that it is the primary and most preferred loan product.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representing a moderate share but significantly lower compared to XLG, suggesting limited demand or targeted usage.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accounts for only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least utilize product among the three.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heavy concentration in a single product (XLG) indicates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portfolio dependency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diversification across XL and XTL products could help balance revenue streams and reduce risk exposure.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dashboard highlights strong performance from XLG but also signals the need for product diversification to enhance long-term stability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25" y="1306269"/>
            <a:ext cx="4496427" cy="31341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77264" y="399059"/>
            <a:ext cx="6440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Total Amount by State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32826" y="1205403"/>
            <a:ext cx="215988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" r="1403"/>
          <a:stretch>
            <a:fillRect/>
          </a:stretch>
        </p:blipFill>
        <p:spPr>
          <a:xfrm>
            <a:off x="1022554" y="1366684"/>
            <a:ext cx="4572001" cy="4167926"/>
          </a:xfrm>
          <a:prstGeom prst="rect">
            <a:avLst/>
          </a:prstGeom>
        </p:spPr>
      </p:pic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5832826" y="1658475"/>
            <a:ext cx="61390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Uttar Pradesh (138M)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significantly, followed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Punjab (119M)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Bihar (95M)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regional concentration.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Haryana (81M)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Rajasthan (67M)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show solid contribution to the overall portfolio.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Mid-level performance is seen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Odisha, Assam, West Bengal, and Chhattisgarh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low or zero loan amounts are recorded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Himachal Pradesh, Jharkhand, Jammu &amp; Kashmir, Madhya Pradesh, and Tripura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distribution suggests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dependency on a few key states with growth potential in underpenetrated regions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Bank loan analytics-Process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3166" y="1238863"/>
            <a:ext cx="1076386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Handled null values, removed duplicates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 Created KPIs (Total Loans, Total Loan Amount funded, Total Collection, Total Interest, Default Loan, Verified Loans, Non Verified Loans, Delinquent Clients)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 Built dashboard using Power BI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Extraction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0424" y="296266"/>
            <a:ext cx="10127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ANALYTICS-RECOMMENDATIONS &amp; INSIGHTS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049" y="1164997"/>
            <a:ext cx="11572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66K total loans with ₹808M collections indicate strong repayment performance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portfolio heavily concentrated in a few states (UP, Punjab, Bihar)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26–35 age group contributes highest loan share (34.75%)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Grade B loans dominate portfolio, reflecting moderate risk exposure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XLG product accounts for 87% of total loan amount (high product dependency)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7K delinquent clients highlight recovery improvement opportunity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disbursement peaked in 2018 and declined sharply by 2020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" y="73866"/>
            <a:ext cx="1438420" cy="6463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0711" y="926103"/>
            <a:ext cx="1106128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of Analysis: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bank maintains a strong loan portfolio with ₹808M total collections exceeding ₹733M funded amount.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Loan demand is concentrated in the 26–45 age group and a few key states, showing both opportunity and concentration risk.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Grade B and Active loans dominate the portfolio, indicating moderate but controlled credit risk exposure.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Delinquent clients (7K) and 1K default loans highlight areas for improved recovery and monitoring.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Product dependency on XLG (87%) suggests a need for portfolio diversification.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Strategic focus on credit monitoring, geographic expansion, and product diversification can enhance growth and reduce risk.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2825" y="169746"/>
            <a:ext cx="8603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ANALYTICS-CONCLUSION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8065" y="135090"/>
            <a:ext cx="769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Loan Analytics Dashboard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1"/>
            <a:ext cx="1227275" cy="551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864"/>
            <a:ext cx="12192000" cy="61318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49125" y="1303610"/>
            <a:ext cx="109801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Banking &amp; Financial Services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Difficulty in monitoring debit and credit transactions effectively, imbalance between credit and debit amounts, and lack of clear visibility on transaction trends across banks, branches, and payment methods.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transaction patterns, monitor financial performance, evaluate branch and bank performance, and improve decision-making using key performance indicators such as Credit-to-Debit Ratio and Account Activity Ratio.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24760" y="134585"/>
            <a:ext cx="10288229" cy="107852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and credit transactions-introduction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06129" y="1375881"/>
            <a:ext cx="99797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transactions.csv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100,000 of transaction records across all banks and branches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Transaction_Date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Bank_Name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Branch_Name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Transaction_Method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Transaction_Type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(Debit/Credit), Description, Amount, Balance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Aggregations(KPI’S):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Credit:₹128M, Total Debit:₹127M, Credit-to-Debit Ratio: 1.0025, Net Transactions: ₹318K, Account Activity Ratio: 0.0190%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0696" y="231302"/>
            <a:ext cx="907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DEBIT AND CREDIT TRANSACTIONS-DATA OVERVIEW</a:t>
            </a:r>
            <a:endParaRPr lang="en-IN" sz="3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7494" y="293023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Debit and credit transactions-Objectives/</a:t>
            </a:r>
            <a:r>
              <a:rPr lang="en-US" sz="3200" b="1" dirty="0" err="1">
                <a:latin typeface="+mn-lt"/>
              </a:rPr>
              <a:t>kpi’s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535" y="1543665"/>
            <a:ext cx="8361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Year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Description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Amount by Transaction Method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Branch Name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by Bank Name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681941" cy="7557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943" y="284353"/>
            <a:ext cx="10114935" cy="69675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+mn-lt"/>
              </a:rPr>
              <a:t>DEBIT &amp; CREDIT TRANSACTIONS-Analysis and Insights</a:t>
            </a:r>
            <a:endParaRPr lang="en-IN" sz="3200" b="1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7961" y="1327356"/>
            <a:ext cx="386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Monthly Transactions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2851" r="1164" b="3163"/>
          <a:stretch>
            <a:fillRect/>
          </a:stretch>
        </p:blipFill>
        <p:spPr>
          <a:xfrm>
            <a:off x="1002889" y="1966452"/>
            <a:ext cx="5801033" cy="20451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177548" y="898594"/>
            <a:ext cx="475492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 to November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total loan amount remains highly stable, fluctuating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₹22M and ₹24M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consistent lending activity throughout most of the year.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January, March, May, July, and October (₹24M)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slightly higher disbursements, reflecting peak performance months.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variation across these eleven months is minimal (only ₹2M difference), suggesting strong portfolio stability and steady demand.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sharp drop is observed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(₹1M)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significantly lower than other months and may indicate incomplete data, seasonal slowdown, or reporting cut-off effects.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24981" y="532270"/>
            <a:ext cx="6872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Description wise Amount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289468" y="1944199"/>
            <a:ext cx="68727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Bill 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the highest total amount, followed closely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values across categories are relatively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minimal variation.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 (salary, freelance, client payments)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categories (grocery, dining, online shopping)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steady activity.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Refund-related transactions form a noticeable portion, indicating active transaction corrections.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89468" y="1482534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0" y="1635207"/>
            <a:ext cx="4215014" cy="24863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0" y="1406864"/>
            <a:ext cx="48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6927" y="648929"/>
            <a:ext cx="5850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Transactions Method %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935226" y="1868529"/>
            <a:ext cx="625677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count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evenly distributed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Bank Transfer, Debit Card, and Credit Card (33% each).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single payment method dominates, indicating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customer preference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 usage suggests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diversified payment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strong adoption across all channels.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flexibility for businesses without over-reliance on one transaction mode.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12" y="1637696"/>
            <a:ext cx="4237704" cy="26801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158132" y="1344873"/>
            <a:ext cx="48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83974" y="383458"/>
            <a:ext cx="5899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Branch wise Transactions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" t="3183" r="1730" b="2711"/>
          <a:stretch>
            <a:fillRect/>
          </a:stretch>
        </p:blipFill>
        <p:spPr>
          <a:xfrm>
            <a:off x="1219200" y="1425677"/>
            <a:ext cx="5535562" cy="2389239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029448" y="1825028"/>
            <a:ext cx="49759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amounts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consistently distributed across all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ranging between 42M–43M.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Center, Main, East, and Downtown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slightly lead at 43M.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Suburban and North branches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closely follow at 42M, showing minimal variation.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performance indicates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branch contribution with no major outliers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73283" y="1392876"/>
            <a:ext cx="2016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6592" y="532270"/>
            <a:ext cx="559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 Bank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wiseTransactions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 t="2436" r="2284" b="4302"/>
          <a:stretch>
            <a:fillRect/>
          </a:stretch>
        </p:blipFill>
        <p:spPr>
          <a:xfrm>
            <a:off x="934065" y="1622322"/>
            <a:ext cx="5514420" cy="2212259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73283" y="1808375"/>
            <a:ext cx="523190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amount distribution across banks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uniform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ranging between 42M–43M.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Kotak Mahindra Bank, Axis Bank, State Bank of India, and ICICI Bank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 marginally at 43M.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Punjab National Bank and HDFC Bank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closely follow at 42M.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significant performance gap is observed among banks.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portfolio appears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evenly diversified across banking partners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reducing concentration risk.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877" y="365125"/>
            <a:ext cx="10515600" cy="69675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Debit &amp; credit transactions-Process</a:t>
            </a:r>
            <a:endParaRPr lang="en-IN" sz="3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1826" y="1312089"/>
            <a:ext cx="107835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Handled null values, removed duplicates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Transformation: Created KPIs (Total Credit, Total Debit, Net Transactions, Credit-to-Debit Ratio, Account Activity Ratio)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 Built dashboard using Power BI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Extraction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3752" y="317280"/>
            <a:ext cx="105893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TRANSACTIONS-RECOMMENDATIONS AND INSIGHTS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9125" y="1509006"/>
            <a:ext cx="1110061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and Debit amounts are nearly equal, indicating a balanced financial system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Monthly transactions remain stable with minor seasonal fluctuations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Transaction methods are equally used across customers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Branch performance is consistent with minimal variation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Recommendations: Strengthen marketing during low-activity months and promote digital payment adoption to increase overall transaction volume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7" y="114920"/>
            <a:ext cx="1345262" cy="6044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877" y="1255691"/>
            <a:ext cx="110711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of Analysis: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Debit and Credit transactions remain balanced throughout the year.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Monthly transaction trends show consistent performance with minor seasonal variations.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Bank and branch contributions are evenly distributed with no major performance gaps.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Diversified transaction methods indicate stable and flexible customer payment behavior.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Strategic improvements during low-activity periods can further enhance transaction volume and overall financial efficiency.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04102" y="258993"/>
            <a:ext cx="8603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TRANSACTIONS-CONCLUSION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9432" y="15932"/>
            <a:ext cx="1095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&amp; Credit Transactions Dashboard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21"/>
            <a:ext cx="1248697" cy="4851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" y="761252"/>
            <a:ext cx="12151438" cy="60967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935" y="930100"/>
            <a:ext cx="363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7187" y="1524000"/>
            <a:ext cx="820993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transformation (most time-consuming)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validation with business logic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Maintaining data accuracy across tools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optimization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user experience design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70152" y="3949170"/>
            <a:ext cx="270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9369" y="4549170"/>
            <a:ext cx="6538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Proper Data Modeling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Filter Context &amp; DAX Logic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Design &amp; Visualization Skill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95019" y="275303"/>
            <a:ext cx="5633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and Learnings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0051" y="2141285"/>
            <a:ext cx="4788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THE END....</a:t>
            </a:r>
            <a:endParaRPr lang="en-IN" sz="7200" i="1" dirty="0"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6" y="114920"/>
            <a:ext cx="1560438" cy="70115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14042</Words>
  <Application>WPS Presentation</Application>
  <PresentationFormat>Widescreen</PresentationFormat>
  <Paragraphs>402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SimSun</vt:lpstr>
      <vt:lpstr>Wingdings</vt:lpstr>
      <vt:lpstr>Trebuchet MS</vt:lpstr>
      <vt:lpstr>Lucida Calligraphy</vt:lpstr>
      <vt:lpstr>Algerian</vt:lpstr>
      <vt:lpstr>Calibri</vt:lpstr>
      <vt:lpstr>Microsoft YaHei</vt:lpstr>
      <vt:lpstr>Arial Unicode MS</vt:lpstr>
      <vt:lpstr>Tw Cen MT</vt:lpstr>
      <vt:lpstr>Circuit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Bank loan dashboard-Objectives/kpi’s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Bank loan analytics-Process</vt:lpstr>
      <vt:lpstr>PowerPoint 演示文稿</vt:lpstr>
      <vt:lpstr>PowerPoint 演示文稿</vt:lpstr>
      <vt:lpstr>PowerPoint 演示文稿</vt:lpstr>
      <vt:lpstr>Debit and credit transactions-introduction</vt:lpstr>
      <vt:lpstr>PowerPoint 演示文稿</vt:lpstr>
      <vt:lpstr>Debit and credit transactions-Objectives/kpi’s</vt:lpstr>
      <vt:lpstr>DEBIT &amp; CREDIT TRANSACTIONS-Analysis and Insights</vt:lpstr>
      <vt:lpstr>PowerPoint 演示文稿</vt:lpstr>
      <vt:lpstr>PowerPoint 演示文稿</vt:lpstr>
      <vt:lpstr>PowerPoint 演示文稿</vt:lpstr>
      <vt:lpstr>PowerPoint 演示文稿</vt:lpstr>
      <vt:lpstr>Debit &amp; credit transactions-Process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asusr1n0cv12623805b@outlook.com</dc:creator>
  <cp:lastModifiedBy>D A S H I N G F F</cp:lastModifiedBy>
  <cp:revision>64</cp:revision>
  <dcterms:created xsi:type="dcterms:W3CDTF">2026-02-12T06:29:00Z</dcterms:created>
  <dcterms:modified xsi:type="dcterms:W3CDTF">2026-03-10T10:44:44Z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094681252EEE4784BB9D64F53CA56E98_12</vt:lpwstr>
  </property>
  <property fmtid="{D5CDD505-2E9C-101B-9397-08002B2CF9AE}" pid="3" name="KSOProductBuildVer">
    <vt:lpwstr>1033-12.2.0.23196</vt:lpwstr>
  </property>
</Properties>
</file>